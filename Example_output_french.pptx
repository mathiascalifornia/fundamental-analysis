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THE-COCA-COLA-COMPANY-4819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" y="1600200"/>
            <a:ext cx="91" cy="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The Coca-Cola Company est le n° 1 mondial de la production et de la</a:t>
            </a:r>
            <a:br/>
            <a:r>
              <a:t>commercialisation de boissons sans alcool. Le CA par activité se répartit comme</a:t>
            </a:r>
            <a:br/>
            <a:r>
              <a:t>suit :- vente de concentrés de boissons et de sirops (56%) ;- mise en bouteilles</a:t>
            </a:r>
            <a:br/>
            <a:r>
              <a:t>et vente de boissons (44%) : sodas, jus de fruits, boissons à base de thé, eaux,</a:t>
            </a:r>
            <a:br/>
            <a:r>
              <a:t>etc. commercialisés sous les marques Coca-Cola, Diet Coke, Fanta, Fresca,</a:t>
            </a:r>
            <a:br/>
            <a:r>
              <a:t>Schweppes Sprite, Thums Up, Aquarius, Ciel, Dasani, AdeS, Del Valle, fairlife,</a:t>
            </a:r>
            <a:br/>
            <a:r>
              <a:t>innocent, Minute Maid, etc.A fin 2020, le groupe dispose de 141 sites de</a:t>
            </a:r>
            <a:br/>
            <a:r>
              <a:t>production dans le monde.65,8% du CA est réalisé à l'international.Nombre</a:t>
            </a:r>
            <a:br/>
            <a:r>
              <a:t>d'employés : 79 000 personnes. La capitalisation , valeur entreprise , chiffre</a:t>
            </a:r>
            <a:br/>
            <a:r>
              <a:t>d'affaire , EBITDA , EBIT , EBT , le résultat net , la dette et trésorerie net ,</a:t>
            </a:r>
            <a:br/>
            <a:r>
              <a:t>le free cash flow , les capitaux propres , le total des actifs et le Capex sont</a:t>
            </a:r>
            <a:br/>
            <a:r>
              <a:t>en millions.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20240"/>
            <a:ext cx="7434072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Valeur Entreprise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Rendement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Capitalisation /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Valeur Entreprise /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Valeur Entreprise / EBITDA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Valeur Entreprise / FCF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FCF Yield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Cours sur Actif 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Nbr de Titres (en Milliers)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 de référence (USD)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6821424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Chiffre d'affaires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EBITDA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Résultat d'exploitation (EBIT)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Marge d'exploitation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Résultat Avt. Impôt (EBT)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Résultat net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Marge nette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BNA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Dividende / Action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0240"/>
            <a:ext cx="6419088" cy="36301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Dette Nette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Trésorerie Nette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Leverage (Dette / EBITDA)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Free Cash Flow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ROE (RN / Capitaux Propres)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Capitaux Propres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ROA (RN / Total Actif)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Total Actifs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BVPS (Actif net par Action)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CPS (Cash Flow Par Action)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Capex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Capex /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Taux de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Capitaux propres vs Dette 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ap_versus_de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Nombres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key_data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828800"/>
            <a:ext cx="4581144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Perte de valeur maximum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aximum_draw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Prix de l'action normalisé KO vs SP500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Régression linéaire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linear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Estimation par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é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 Strength Index (RSI)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Zoom des six derniers mois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Prix et dividendes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ice_with_divid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Dividende versé par année et par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nual_divid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Repartition des investisseurs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harehol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 sentiment du marché, basée sur les titres d'actualités.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Chiffres et informations à prendre en compte.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" y="1600200"/>
            <a:ext cx="91" cy="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      Le retour sur investissement annuel sur 47 ans  est de 13.88%</a:t>
            </a:r>
            <a:br/>
            <a:r>
              <a:t>       et 11.39% sur les 5 dernières années.</a:t>
            </a:r>
            <a:br/>
            <a:r>
              <a:t>        L'écart type des gains et pertes est de 1.48</a:t>
            </a:r>
            <a:br/>
            <a:r>
              <a:t>      et 1.49 sur les 5 dernières années.</a:t>
            </a:r>
            <a:br/>
            <a:r>
              <a:t>        Les ratios Sharpe et Sortino sont respectivement 0.5928 et 0.059</a:t>
            </a:r>
            <a:br/>
            <a:r>
              <a:t>        et de 0.4813 et 0.0396 sur les 5 dernières années.</a:t>
            </a:r>
            <a:br/>
            <a:br/>
            <a:r>
              <a:t>       Les trois principaux investisseurs institutionnels sont , par ordre décroissant de détention:</a:t>
            </a:r>
            <a:br/>
            <a:r>
              <a:t>        Berkshire Hathaway, Inc</a:t>
            </a:r>
            <a:br/>
            <a:r>
              <a:t>        Vanguard Group, Inc. (The)</a:t>
            </a:r>
            <a:br/>
            <a:r>
              <a:t>        Blackrock Inc..</a:t>
            </a:r>
            <a:br/>
            <a:br/>
            <a:br/>
            <a:br/>
            <a:br/>
            <a:r>
              <a:t>       Date de ce rapport : 2022-12-11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