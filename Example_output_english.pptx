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VF-CORPORATION-14798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" y="1600200"/>
            <a:ext cx="91" cy="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V. F. Corporation specializes in the design, manufacture and marketing of</a:t>
            </a:r>
            <a:br/>
            <a:r>
              <a:t>clothing and accessories for men, women and children.The CA by family of</a:t>
            </a:r>
            <a:br/>
            <a:r>
              <a:t>products is distributed as follows:- clothes, shoes and relaxed and sport</a:t>
            </a:r>
            <a:br/>
            <a:r>
              <a:t>accessories (45%): Vans® brands, Supreme®, Kipling®, Napapijri®, Eastpak®,</a:t>
            </a:r>
            <a:br/>
            <a:r>
              <a:t>Jansport® and Eagle Creek®;-Clothes, shoes and outdoor equipment (44.7%): The</a:t>
            </a:r>
            <a:br/>
            <a:r>
              <a:t>North Face® brands, Timberland®, Smartwool®, Icebreaker® and Altra®;- Clothes</a:t>
            </a:r>
            <a:br/>
            <a:r>
              <a:t>and work shoes (10.2%): Dickies® andTimberland Pro®;- Others (0.1%). CA per</a:t>
            </a:r>
            <a:br/>
            <a:r>
              <a:t>source of income ventilates between product sales (99.4%) and royalties (0.6%).</a:t>
            </a:r>
            <a:br/>
            <a:r>
              <a:t>The geographic distribution of the CA is as follows: States-Unis (50.2%),</a:t>
            </a:r>
            <a:br/>
            <a:r>
              <a:t>Americas (5%), Europe (28.3%) and Asia-Pacific (16.5%). Number of employees:</a:t>
            </a:r>
            <a:br/>
            <a:r>
              <a:t>35,000 people.Capitalization, business value, turnover, EBITDA, EBIT, EBT, net</a:t>
            </a:r>
            <a:br/>
            <a:r>
              <a:t>profit, debt and net cash, free cash flow, equity, total assets and CAPEX are in</a:t>
            </a:r>
            <a:br/>
            <a:r>
              <a:t>millions.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6858000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Capitalization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/ EBITDA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/ FCF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FCF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 on net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NBR of titles (in thousands)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course (USD)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6428232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EBITDA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result (EBIT)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AVT result.Tax (EBT)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 /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0240"/>
            <a:ext cx="6245352" cy="36301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Leverage (debt / ebitda)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cash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ROE (RN / Equity)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 (RN / TOTAL Active)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BVPS (net active in 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CPS (cash flow by action)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/ 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{i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 out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Equity versus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ap_versus_de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key_data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828800"/>
            <a:ext cx="447141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Maximum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ximum_draw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Normalized stocks price :VFC vs SP500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é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Strength Index (RSI)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9144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six months zoom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dividends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ce_with_divid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Dividend per year and per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nual_divid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hareh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feeling analysis, based on news titles.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 and interestings informations.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" y="1600200"/>
            <a:ext cx="91" cy="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annual return on investment over 42 years is 13.99%</a:t>
            </a:r>
            <a:br/>
            <a:r>
              <a:t>       and -28.79% over the last 5 years.</a:t>
            </a:r>
            <a:br/>
            <a:r>
              <a:t>        The standard deviation of gains and losses is 1.95</a:t>
            </a:r>
            <a:br/>
            <a:r>
              <a:t>      and 2.7 over the last 5 years.</a:t>
            </a:r>
            <a:br/>
            <a:r>
              <a:t>        The Sharpe and Sortino ratios are respectively 0.4516 and 0.0493</a:t>
            </a:r>
            <a:br/>
            <a:r>
              <a:t>        and -0.6703 and -0395 over the last 5 years.</a:t>
            </a:r>
            <a:br/>
            <a:br/>
            <a:r>
              <a:t>       The three main institutional investors are, in decreasing order of detention:</a:t>
            </a:r>
            <a:br/>
            <a:r>
              <a:t>        PNC Financial Services Group, Inc.</a:t>
            </a:r>
            <a:br/>
            <a:r>
              <a:t>        Vanguard Group, Inc. (The)</a:t>
            </a:r>
            <a:br/>
            <a:r>
              <a:t>        International International Capital.</a:t>
            </a:r>
            <a:br/>
            <a:br/>
            <a:br/>
            <a:br/>
            <a:br/>
            <a:r>
              <a:t>        Date of this report: 2022-12-10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